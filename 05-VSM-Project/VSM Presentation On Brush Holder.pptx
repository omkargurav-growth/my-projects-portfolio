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>
                <a:effectLst/>
              </a:rPr>
              <a:t>Pune Firm Schedule Vs Actual Dispatched Qty  </a:t>
            </a:r>
            <a:endParaRPr lang="en-US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'[Worksheet in VSM Presentation On Brush Holder]Actual Dispatched Vs Firm Sch'!$C$42:$D$42</c:f>
              <c:strCache>
                <c:ptCount val="2"/>
                <c:pt idx="0">
                  <c:v>Pune</c:v>
                </c:pt>
                <c:pt idx="1">
                  <c:v>Firm Schedule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4314117100748843E-2"/>
                  <c:y val="-5.48622048107608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8.7474149551291738E-17"/>
                  <c:y val="-1.19700738727925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1.1928430917290702E-2"/>
                  <c:y val="5.985036936396203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'[Worksheet in VSM Presentation On Brush Holder]Actual Dispatched Vs Firm Sch'!$E$41:$K$41</c:f>
              <c:strCache>
                <c:ptCount val="7"/>
                <c:pt idx="0">
                  <c:v>Jan-23</c:v>
                </c:pt>
                <c:pt idx="1">
                  <c:v>Feb-23</c:v>
                </c:pt>
                <c:pt idx="2">
                  <c:v>Mar-23</c:v>
                </c:pt>
                <c:pt idx="3">
                  <c:v>Apr-23</c:v>
                </c:pt>
                <c:pt idx="4">
                  <c:v>May-23</c:v>
                </c:pt>
                <c:pt idx="5">
                  <c:v>Jun-23</c:v>
                </c:pt>
                <c:pt idx="6">
                  <c:v>Average </c:v>
                </c:pt>
              </c:strCache>
            </c:strRef>
          </c:cat>
          <c:val>
            <c:numRef>
              <c:f>'[Worksheet in VSM Presentation On Brush Holder]Actual Dispatched Vs Firm Sch'!$E$42:$K$42</c:f>
              <c:numCache>
                <c:formatCode>General</c:formatCode>
                <c:ptCount val="7"/>
                <c:pt idx="0">
                  <c:v>37080</c:v>
                </c:pt>
                <c:pt idx="1">
                  <c:v>32040</c:v>
                </c:pt>
                <c:pt idx="2">
                  <c:v>40000</c:v>
                </c:pt>
                <c:pt idx="3">
                  <c:v>40000</c:v>
                </c:pt>
                <c:pt idx="4">
                  <c:v>51820</c:v>
                </c:pt>
                <c:pt idx="5">
                  <c:v>34560</c:v>
                </c:pt>
                <c:pt idx="6">
                  <c:v>39250</c:v>
                </c:pt>
              </c:numCache>
            </c:numRef>
          </c:val>
        </c:ser>
        <c:ser>
          <c:idx val="1"/>
          <c:order val="1"/>
          <c:tx>
            <c:strRef>
              <c:f>'[Worksheet in VSM Presentation On Brush Holder]Actual Dispatched Vs Firm Sch'!$C$43:$D$43</c:f>
              <c:strCache>
                <c:ptCount val="2"/>
                <c:pt idx="0">
                  <c:v>Pune</c:v>
                </c:pt>
                <c:pt idx="1">
                  <c:v>Actual Dispatched Quantity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8.7474149551291738E-17"/>
                  <c:y val="1.19700738727924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1.1928430917290702E-2"/>
                  <c:y val="-5.985036936396368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'[Worksheet in VSM Presentation On Brush Holder]Actual Dispatched Vs Firm Sch'!$E$41:$K$41</c:f>
              <c:strCache>
                <c:ptCount val="7"/>
                <c:pt idx="0">
                  <c:v>Jan-23</c:v>
                </c:pt>
                <c:pt idx="1">
                  <c:v>Feb-23</c:v>
                </c:pt>
                <c:pt idx="2">
                  <c:v>Mar-23</c:v>
                </c:pt>
                <c:pt idx="3">
                  <c:v>Apr-23</c:v>
                </c:pt>
                <c:pt idx="4">
                  <c:v>May-23</c:v>
                </c:pt>
                <c:pt idx="5">
                  <c:v>Jun-23</c:v>
                </c:pt>
                <c:pt idx="6">
                  <c:v>Average </c:v>
                </c:pt>
              </c:strCache>
            </c:strRef>
          </c:cat>
          <c:val>
            <c:numRef>
              <c:f>'[Worksheet in VSM Presentation On Brush Holder]Actual Dispatched Vs Firm Sch'!$E$43:$K$43</c:f>
              <c:numCache>
                <c:formatCode>General</c:formatCode>
                <c:ptCount val="7"/>
                <c:pt idx="0">
                  <c:v>38920</c:v>
                </c:pt>
                <c:pt idx="1">
                  <c:v>39780</c:v>
                </c:pt>
                <c:pt idx="2">
                  <c:v>38484</c:v>
                </c:pt>
                <c:pt idx="3">
                  <c:v>32902</c:v>
                </c:pt>
                <c:pt idx="4">
                  <c:v>53970</c:v>
                </c:pt>
                <c:pt idx="5">
                  <c:v>34560</c:v>
                </c:pt>
                <c:pt idx="6">
                  <c:v>39769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73184128"/>
        <c:axId val="1773186304"/>
      </c:barChart>
      <c:catAx>
        <c:axId val="17731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186304"/>
        <c:crosses val="autoZero"/>
        <c:auto val="1"/>
        <c:lblAlgn val="ctr"/>
        <c:lblOffset val="100"/>
        <c:noMultiLvlLbl val="0"/>
      </c:catAx>
      <c:valAx>
        <c:axId val="1773186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18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>
                <a:effectLst/>
              </a:rPr>
              <a:t>Mexico Firm Schedule Vs Actual Dispatched Qty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'[Worksheet in VSM Presentation On Brush Holder]Actual Dispatched Vs Firm Sch'!$C$47:$D$47</c:f>
              <c:strCache>
                <c:ptCount val="2"/>
                <c:pt idx="0">
                  <c:v>Mexico</c:v>
                </c:pt>
                <c:pt idx="1">
                  <c:v>Firm Schedule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'[Worksheet in VSM Presentation On Brush Holder]Actual Dispatched Vs Firm Sch'!$E$46:$K$46</c:f>
              <c:strCache>
                <c:ptCount val="7"/>
                <c:pt idx="0">
                  <c:v>Jan-23</c:v>
                </c:pt>
                <c:pt idx="1">
                  <c:v>Feb-23</c:v>
                </c:pt>
                <c:pt idx="2">
                  <c:v>Mar-23</c:v>
                </c:pt>
                <c:pt idx="3">
                  <c:v>Apr-23</c:v>
                </c:pt>
                <c:pt idx="4">
                  <c:v>May-23</c:v>
                </c:pt>
                <c:pt idx="5">
                  <c:v>Jun-23</c:v>
                </c:pt>
                <c:pt idx="6">
                  <c:v>Average </c:v>
                </c:pt>
              </c:strCache>
            </c:strRef>
          </c:cat>
          <c:val>
            <c:numRef>
              <c:f>'[Worksheet in VSM Presentation On Brush Holder]Actual Dispatched Vs Firm Sch'!$E$47:$K$47</c:f>
              <c:numCache>
                <c:formatCode>General</c:formatCode>
                <c:ptCount val="7"/>
                <c:pt idx="0">
                  <c:v>10800</c:v>
                </c:pt>
                <c:pt idx="1">
                  <c:v>10800</c:v>
                </c:pt>
                <c:pt idx="2">
                  <c:v>5400</c:v>
                </c:pt>
                <c:pt idx="3">
                  <c:v>14400</c:v>
                </c:pt>
                <c:pt idx="4">
                  <c:v>7200</c:v>
                </c:pt>
                <c:pt idx="5">
                  <c:v>16200</c:v>
                </c:pt>
                <c:pt idx="6">
                  <c:v>10800</c:v>
                </c:pt>
              </c:numCache>
            </c:numRef>
          </c:val>
        </c:ser>
        <c:ser>
          <c:idx val="1"/>
          <c:order val="1"/>
          <c:tx>
            <c:strRef>
              <c:f>'[Worksheet in VSM Presentation On Brush Holder]Actual Dispatched Vs Firm Sch'!$C$48:$D$48</c:f>
              <c:strCache>
                <c:ptCount val="2"/>
                <c:pt idx="0">
                  <c:v>Mexico</c:v>
                </c:pt>
                <c:pt idx="1">
                  <c:v>Actual Dispatched Quantity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1.181102215747748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'[Worksheet in VSM Presentation On Brush Holder]Actual Dispatched Vs Firm Sch'!$E$46:$K$46</c:f>
              <c:strCache>
                <c:ptCount val="7"/>
                <c:pt idx="0">
                  <c:v>Jan-23</c:v>
                </c:pt>
                <c:pt idx="1">
                  <c:v>Feb-23</c:v>
                </c:pt>
                <c:pt idx="2">
                  <c:v>Mar-23</c:v>
                </c:pt>
                <c:pt idx="3">
                  <c:v>Apr-23</c:v>
                </c:pt>
                <c:pt idx="4">
                  <c:v>May-23</c:v>
                </c:pt>
                <c:pt idx="5">
                  <c:v>Jun-23</c:v>
                </c:pt>
                <c:pt idx="6">
                  <c:v>Average </c:v>
                </c:pt>
              </c:strCache>
            </c:strRef>
          </c:cat>
          <c:val>
            <c:numRef>
              <c:f>'[Worksheet in VSM Presentation On Brush Holder]Actual Dispatched Vs Firm Sch'!$E$48:$K$48</c:f>
              <c:numCache>
                <c:formatCode>General</c:formatCode>
                <c:ptCount val="7"/>
                <c:pt idx="0">
                  <c:v>13600</c:v>
                </c:pt>
                <c:pt idx="1">
                  <c:v>14400</c:v>
                </c:pt>
                <c:pt idx="2">
                  <c:v>9000</c:v>
                </c:pt>
                <c:pt idx="3">
                  <c:v>7200</c:v>
                </c:pt>
                <c:pt idx="4">
                  <c:v>7200</c:v>
                </c:pt>
                <c:pt idx="5">
                  <c:v>9000</c:v>
                </c:pt>
                <c:pt idx="6">
                  <c:v>10066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73179776"/>
        <c:axId val="1773178688"/>
      </c:barChart>
      <c:catAx>
        <c:axId val="177317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178688"/>
        <c:crosses val="autoZero"/>
        <c:auto val="1"/>
        <c:lblAlgn val="ctr"/>
        <c:lblOffset val="100"/>
        <c:noMultiLvlLbl val="0"/>
      </c:catAx>
      <c:valAx>
        <c:axId val="1773178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179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A4204F-6236-9DDF-F664-7D7253130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B032454-4E64-14F4-3D80-8AD69C132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484670C-6B82-FE6B-78C3-970166EA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535DDE-23D3-5DD3-656F-0A1FCF69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0757A7E-AFD2-DFD9-96BC-D5C76C79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CB4913-8831-F669-0D40-35A67ED2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A4859B-5E49-6C5E-842C-109C8594B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45E5FA4-6A9C-DF45-F713-2DD899CE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2CCECE-09F0-89A7-478C-212CC900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2D9FC6-78FA-22E4-7DE6-7996750F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2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10453-1D6E-05D7-82E2-B252DBFF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53C035F-03B4-7531-BEB5-5A0DA0CFE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33F3B93-7F93-6F14-A167-FA7FAF36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649D05-200D-83F7-8F74-3203153A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FA76FA-3E25-7880-96FF-4A7FC90A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6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550FBC-151C-3A13-3245-DE82DDCA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57AA5E-C57E-10FF-6A67-025AB9C62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3D08FF3-C489-EB02-4512-695A0F826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2134357-9E83-A4F7-93C6-4F53B25E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34C975B-A5B6-35D1-92D3-91366155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286DB74-4257-2559-8FD3-D14B454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9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FFEED-EAB5-1030-5779-589A1D9C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614D7CA-3757-23D0-822E-62E4455C1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11A5F07-43D4-9CD0-A6B0-D1B3166F9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CECACF0-008D-4400-BAA0-A6B19C2A2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D86E89D-34B1-19BF-57CC-929C2CB95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28B069F-1BF1-7DCD-5BD7-BDCD9868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2496A2E-B543-0201-5274-2CA246C9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D27A3CF-A7BE-387C-69C0-3EB016A4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0C2566-FF92-9F7D-9446-E1A5C969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4AD4553-BEFB-32F6-15F6-B3C63153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60419CE-CE9F-C01E-4A99-14381D6FB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D0CB34B-3E0F-027B-7F80-22EC5E34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73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06FB447-C4CC-A974-DC50-3D9116CC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C656F12-3ABB-43A3-79BA-0E6EA3890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3CB5DCB-D088-9E10-8F67-07C7B0D8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9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C3FA12-F634-FBD7-96A7-A19C0F30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04F6C0-5FE7-5AE9-0D2C-E97958746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EDEEE73-2F46-AD77-0F72-CF6996A68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F66549E-2886-75EA-77DE-E868DC0B1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D05CBA-FB7E-BBBF-7253-13AD0508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14E5BA4-0C88-4DFD-05CF-0AF107D6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9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FF8249-C494-62FF-921B-24140730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96D381C-3C07-D7E6-F497-505972CB3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52AD727-5C1F-0B01-4CA9-7395C9E6E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B468945-D371-41F9-E3CF-8707291A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63CC75F-757B-009E-4D40-744DDC87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9AE7E2B-A19A-FF58-99C9-534C51B7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8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AB839F-A2BA-3BC4-E6C7-688422F5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087FDA5-686E-57E6-DE20-DEFC000A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4368900-C5DF-A6EF-CDE2-ED962F0D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93D867-5ADA-9900-D651-921886D3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D5D7FF6-57F3-ED16-1E84-34B6236E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3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A71D48A-E27E-35BB-F665-FF3F94906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18790E2-9D76-F55B-A5DA-BDB691C5A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7ABFE6E-59D4-4ECE-AA5F-27F3E6BB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01FEAA3-9ED1-0C36-AE51-F6CB005E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D227653-B717-D72C-D853-4E119750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0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7609196-3068-1F29-35DE-2B28C7221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CCAF5FA-D1FA-7A4D-7B86-FC24788CC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1871C9-AB1D-5EAF-0C32-9EE50C91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ECDA1-5AB3-4159-BA6E-7503D2C9D78F}" type="datetimeFigureOut">
              <a:rPr lang="en-US" smtClean="0"/>
              <a:t>05/10/2023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489AB2-56B1-D523-F631-048AF907C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33A958D-D708-6F7B-E900-994819702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8D050-A10F-4B46-BF0D-E409FF700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4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1.xml"/><Relationship Id="rId5" Type="http://schemas.openxmlformats.org/officeDocument/2006/relationships/image" Target="../media/image2.wmf"/><Relationship Id="rId4" Type="http://schemas.openxmlformats.org/officeDocument/2006/relationships/package" Target="../embeddings/Microsoft_Excel_Worksheet1.xls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package" Target="../embeddings/Microsoft_Excel_Worksheet2.xls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2000" cy="54939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86264" y="942975"/>
            <a:ext cx="1133296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VALUE STREAM MAPPING </a:t>
            </a:r>
            <a:endParaRPr lang="en-US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060" y="1653037"/>
            <a:ext cx="1145587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VSM Information :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Value-stream mapping</a:t>
            </a:r>
            <a:r>
              <a:rPr lang="en-US" dirty="0"/>
              <a:t> a</a:t>
            </a:r>
            <a:r>
              <a:rPr lang="en-US" dirty="0" smtClean="0"/>
              <a:t>lso </a:t>
            </a:r>
            <a:r>
              <a:rPr lang="en-US" dirty="0"/>
              <a:t>known as </a:t>
            </a:r>
            <a:r>
              <a:rPr lang="en-US" b="1" dirty="0"/>
              <a:t>material- and information-flow mapping</a:t>
            </a:r>
            <a:r>
              <a:rPr lang="en-US" dirty="0" smtClean="0"/>
              <a:t>,</a:t>
            </a:r>
            <a:r>
              <a:rPr lang="en-US" dirty="0"/>
              <a:t> is a </a:t>
            </a:r>
            <a:r>
              <a:rPr lang="en-US" dirty="0" smtClean="0"/>
              <a:t>lean-management </a:t>
            </a:r>
            <a:r>
              <a:rPr lang="en-US" dirty="0"/>
              <a:t>method for analyzing the </a:t>
            </a:r>
            <a:r>
              <a:rPr lang="en-US" b="1" dirty="0"/>
              <a:t>current state </a:t>
            </a:r>
            <a:r>
              <a:rPr lang="en-US" dirty="0"/>
              <a:t>and </a:t>
            </a:r>
            <a:r>
              <a:rPr lang="en-US" b="1" dirty="0"/>
              <a:t>designing a future state </a:t>
            </a:r>
            <a:r>
              <a:rPr lang="en-US" dirty="0"/>
              <a:t>for the series of events that take a product or service from the beginning of the specific process until it reaches the customer. A value stream map is a </a:t>
            </a:r>
            <a:r>
              <a:rPr lang="en-US" dirty="0" smtClean="0"/>
              <a:t>visual</a:t>
            </a:r>
            <a:r>
              <a:rPr lang="en-US" dirty="0"/>
              <a:t> tool that displays all critical steps in a specific process and easily quantifies the time and volume taken at each </a:t>
            </a:r>
            <a:r>
              <a:rPr lang="en-US" dirty="0" smtClean="0"/>
              <a:t>stage . Value </a:t>
            </a:r>
            <a:r>
              <a:rPr lang="en-US" dirty="0"/>
              <a:t>stream maps show the flow of both materials and information as they progress through the process</a:t>
            </a:r>
            <a:r>
              <a:rPr lang="en-US" dirty="0" smtClean="0"/>
              <a:t>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>
                <a:cs typeface="Arial" panose="020B0604020202020204" pitchFamily="34" charset="0"/>
              </a:rPr>
              <a:t>Whereas </a:t>
            </a:r>
            <a:r>
              <a:rPr lang="en-US" dirty="0">
                <a:cs typeface="Arial" panose="020B0604020202020204" pitchFamily="34" charset="0"/>
              </a:rPr>
              <a:t>a </a:t>
            </a:r>
            <a:r>
              <a:rPr lang="en-US" dirty="0" smtClean="0">
                <a:cs typeface="Arial" panose="020B0604020202020204" pitchFamily="34" charset="0"/>
              </a:rPr>
              <a:t>value stream</a:t>
            </a:r>
            <a:r>
              <a:rPr lang="en-US" dirty="0">
                <a:cs typeface="Arial" panose="020B0604020202020204" pitchFamily="34" charset="0"/>
              </a:rPr>
              <a:t> map represents a core </a:t>
            </a:r>
            <a:r>
              <a:rPr lang="en-US" dirty="0" smtClean="0">
                <a:cs typeface="Arial" panose="020B0604020202020204" pitchFamily="34" charset="0"/>
              </a:rPr>
              <a:t>business processes that </a:t>
            </a:r>
            <a:r>
              <a:rPr lang="en-US" dirty="0">
                <a:cs typeface="Arial" panose="020B0604020202020204" pitchFamily="34" charset="0"/>
              </a:rPr>
              <a:t>adds value to a material product, a value </a:t>
            </a:r>
            <a:r>
              <a:rPr lang="en-US" dirty="0" smtClean="0">
                <a:cs typeface="Arial" panose="020B0604020202020204" pitchFamily="34" charset="0"/>
              </a:rPr>
              <a:t>chain diagram </a:t>
            </a:r>
            <a:r>
              <a:rPr lang="en-US" dirty="0">
                <a:cs typeface="Arial" panose="020B0604020202020204" pitchFamily="34" charset="0"/>
              </a:rPr>
              <a:t>shows an overview of all activities within a company</a:t>
            </a:r>
            <a:r>
              <a:rPr lang="en-US" dirty="0" smtClean="0">
                <a:cs typeface="Arial" panose="020B0604020202020204" pitchFamily="34" charset="0"/>
              </a:rPr>
              <a:t>.</a:t>
            </a:r>
            <a:r>
              <a:rPr lang="en-US" dirty="0">
                <a:cs typeface="Arial" panose="020B0604020202020204" pitchFamily="34" charset="0"/>
              </a:rPr>
              <a:t> Other business activities may be represented in "value stream diagrams" and/or other kinds of diagram that represent business processes that create and use business data</a:t>
            </a:r>
            <a:r>
              <a:rPr lang="en-US" dirty="0" smtClean="0"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 smtClean="0">
                <a:cs typeface="Arial" panose="020B0604020202020204" pitchFamily="34" charset="0"/>
              </a:rPr>
              <a:t>Purpose :</a:t>
            </a:r>
          </a:p>
          <a:p>
            <a:r>
              <a:rPr lang="en-US" dirty="0" smtClean="0"/>
              <a:t>                       “ The </a:t>
            </a:r>
            <a:r>
              <a:rPr lang="en-US" dirty="0"/>
              <a:t>purpose of value-stream mapping is to identify and remove or reduce "waste" in value </a:t>
            </a:r>
            <a:r>
              <a:rPr lang="en-US" dirty="0" smtClean="0"/>
              <a:t>streams , thereby </a:t>
            </a:r>
            <a:r>
              <a:rPr lang="en-US" dirty="0"/>
              <a:t>increasing the efficiency of a given value stream. Waste removal is intended to increase productivity by creating leaner operations which in turn make waste and quality problems easier to </a:t>
            </a:r>
            <a:r>
              <a:rPr lang="en-US" dirty="0" smtClean="0"/>
              <a:t>identify”</a:t>
            </a:r>
            <a:endParaRPr lang="en-US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4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6"/>
            <a:ext cx="12191999" cy="29060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Arial" panose="020B0604020202020204" pitchFamily="34" charset="0"/>
              </a:rPr>
              <a:t>Types Of Wastes : </a:t>
            </a:r>
            <a:endParaRPr lang="en-US" sz="24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9187" y="1337094"/>
            <a:ext cx="10653624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900" b="1" dirty="0"/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Faster-than-necessary </a:t>
            </a:r>
            <a:r>
              <a:rPr lang="en-US" sz="1900" b="1" dirty="0" smtClean="0"/>
              <a:t>Pace</a:t>
            </a:r>
            <a:r>
              <a:rPr lang="en-US" sz="1900" dirty="0"/>
              <a:t>: creating too much of a good or service that damages production flow, quality, and productivity. Previously referred to as overproduction, and leads to storage and lead time waste.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Waiting</a:t>
            </a:r>
            <a:r>
              <a:rPr lang="en-US" sz="1900" dirty="0"/>
              <a:t>: any time goods are not being transported or worked 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Conveyance</a:t>
            </a:r>
            <a:r>
              <a:rPr lang="en-US" sz="1900" dirty="0"/>
              <a:t>: the process by which goods are moved around. Previously referred to as transport, and includes double-handling and excessive movement.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Processing</a:t>
            </a:r>
            <a:r>
              <a:rPr lang="en-US" sz="1900" dirty="0"/>
              <a:t>: an overly complex solution for a simple procedure. Previously referred to as inappropriate processing, and includes unsafe production. This typically leads to poor layout and communication, and unnecessary motion.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Excess </a:t>
            </a:r>
            <a:r>
              <a:rPr lang="en-US" sz="1900" b="1" dirty="0" smtClean="0"/>
              <a:t>Stock</a:t>
            </a:r>
            <a:r>
              <a:rPr lang="en-US" sz="1900" dirty="0"/>
              <a:t>: an overabundance of inventory which results in greater lead times, increased difficulty identifying problems, and significant storage costs. Previously referred to as unnecessary inventory.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Unnecessary </a:t>
            </a:r>
            <a:r>
              <a:rPr lang="en-US" sz="1900" b="1" dirty="0" smtClean="0"/>
              <a:t>Motion</a:t>
            </a:r>
            <a:r>
              <a:rPr lang="en-US" sz="1900" dirty="0"/>
              <a:t>: ergonomic waste that requires employees to use excess energy such as picking up objects, bending, or stretching. Previously referred to as unnecessary movements, and usually avoidable.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Correction </a:t>
            </a:r>
            <a:r>
              <a:rPr lang="en-US" sz="1900" b="1" dirty="0" smtClean="0"/>
              <a:t>Of Mistakes</a:t>
            </a:r>
            <a:r>
              <a:rPr lang="en-US" sz="1900" dirty="0"/>
              <a:t>: any cost associated with defects or the resources required to correct them.</a:t>
            </a:r>
          </a:p>
          <a:p>
            <a:endParaRPr lang="en-US" sz="19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07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1" y="942975"/>
            <a:ext cx="12191999" cy="29060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Arial" panose="020B0604020202020204" pitchFamily="34" charset="0"/>
              </a:rPr>
              <a:t>Customer’s Details :</a:t>
            </a:r>
            <a:endParaRPr lang="en-US" sz="18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62305"/>
              </p:ext>
            </p:extLst>
          </p:nvPr>
        </p:nvGraphicFramePr>
        <p:xfrm>
          <a:off x="134190" y="1389071"/>
          <a:ext cx="4851878" cy="265620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28583"/>
                <a:gridCol w="3423295"/>
              </a:tblGrid>
              <a:tr h="524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effectLst/>
                          <a:latin typeface="+mn-lt"/>
                        </a:rPr>
                        <a:t>Customer 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800" b="0" u="none" strike="noStrike">
                          <a:effectLst/>
                          <a:latin typeface="+mn-lt"/>
                        </a:rPr>
                        <a:t>Valeo India Pvt. Ltd Pune</a:t>
                      </a:r>
                      <a:endParaRPr lang="it-IT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524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effectLst/>
                          <a:latin typeface="+mn-lt"/>
                        </a:rPr>
                        <a:t>OEM 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effectLst/>
                          <a:latin typeface="+mn-lt"/>
                        </a:rPr>
                        <a:t>Suzuki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524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>
                          <a:effectLst/>
                          <a:latin typeface="+mn-lt"/>
                        </a:rPr>
                        <a:t>Part Name :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effectLst/>
                          <a:latin typeface="+mn-lt"/>
                        </a:rPr>
                        <a:t>Brush Holder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524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Raw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Material 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PPS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GF 40%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524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Grade &amp; Colour 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Ryton R4 200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50027"/>
              </p:ext>
            </p:extLst>
          </p:nvPr>
        </p:nvGraphicFramePr>
        <p:xfrm>
          <a:off x="5374258" y="1300332"/>
          <a:ext cx="6711348" cy="3566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37116"/>
                <a:gridCol w="2237116"/>
                <a:gridCol w="2237116"/>
              </a:tblGrid>
              <a:tr h="337325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Annual Volumes : Ex Works Renata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9031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Locations :                                                                                   Valeo</a:t>
                      </a:r>
                      <a:r>
                        <a:rPr lang="en-US" baseline="0" dirty="0" smtClean="0"/>
                        <a:t>                                       Pune/Mexico</a:t>
                      </a:r>
                      <a:r>
                        <a:rPr lang="en-US" dirty="0" smtClean="0"/>
                        <a:t>                                   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3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 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  <a:tr h="3373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</a:t>
                      </a:r>
                      <a:r>
                        <a:rPr lang="en-US" baseline="0" dirty="0" smtClean="0"/>
                        <a:t>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9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1" y="942975"/>
            <a:ext cx="12191999" cy="28197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Arial" panose="020B0604020202020204" pitchFamily="34" charset="0"/>
              </a:rPr>
              <a:t>Actual Dispatch Vs Tentative Schedule  Quantity : </a:t>
            </a:r>
            <a:endParaRPr lang="en-US" sz="20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910189"/>
              </p:ext>
            </p:extLst>
          </p:nvPr>
        </p:nvGraphicFramePr>
        <p:xfrm>
          <a:off x="11381117" y="620273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Worksheet" showAsIcon="1" r:id="rId4" imgW="914400" imgH="792360" progId="Excel.Sheet.12">
                  <p:embed/>
                </p:oleObj>
              </mc:Choice>
              <mc:Fallback>
                <p:oleObj name="Worksheet" showAsIcon="1" r:id="rId4" imgW="914400" imgH="792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81117" y="620273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" y="6320871"/>
            <a:ext cx="681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Standard Takt Time From This Firm Schedules : 37.762 Sec/part 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810361"/>
              </p:ext>
            </p:extLst>
          </p:nvPr>
        </p:nvGraphicFramePr>
        <p:xfrm>
          <a:off x="889212" y="1764241"/>
          <a:ext cx="5323416" cy="4243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197980"/>
              </p:ext>
            </p:extLst>
          </p:nvPr>
        </p:nvGraphicFramePr>
        <p:xfrm>
          <a:off x="6212628" y="1873419"/>
          <a:ext cx="5376334" cy="4239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0" y="6320871"/>
            <a:ext cx="558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Actual Takt Time From Dispatched Qty : 37.951 Sec/part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5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1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469413"/>
              </p:ext>
            </p:extLst>
          </p:nvPr>
        </p:nvGraphicFramePr>
        <p:xfrm>
          <a:off x="11248547" y="2064409"/>
          <a:ext cx="88538" cy="76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Worksheet" showAsIcon="1" r:id="rId4" imgW="914400" imgH="792360" progId="Excel.Sheet.12">
                  <p:embed/>
                </p:oleObj>
              </mc:Choice>
              <mc:Fallback>
                <p:oleObj name="Worksheet" showAsIcon="1" r:id="rId4" imgW="914400" imgH="792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48547" y="2064409"/>
                        <a:ext cx="88538" cy="76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827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43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88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65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61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879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18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6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028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720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="" xmlns:a16="http://schemas.microsoft.com/office/drawing/2014/main" id="{2691FA7B-9B35-078A-E768-1DBF7726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0"/>
            <a:ext cx="24098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B342FA-538E-38CB-4F8A-7B7D2F1B999A}"/>
              </a:ext>
            </a:extLst>
          </p:cNvPr>
          <p:cNvSpPr txBox="1"/>
          <p:nvPr/>
        </p:nvSpPr>
        <p:spPr>
          <a:xfrm>
            <a:off x="0" y="942975"/>
            <a:ext cx="12191999" cy="17845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u="sng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02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325</Words>
  <Application>Microsoft Office PowerPoint</Application>
  <PresentationFormat>Widescreen</PresentationFormat>
  <Paragraphs>61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Santoshkumar Anegondi</dc:creator>
  <cp:lastModifiedBy>Omkar Gurav</cp:lastModifiedBy>
  <cp:revision>42</cp:revision>
  <dcterms:created xsi:type="dcterms:W3CDTF">2023-09-06T13:26:42Z</dcterms:created>
  <dcterms:modified xsi:type="dcterms:W3CDTF">2023-10-05T12:41:07Z</dcterms:modified>
</cp:coreProperties>
</file>